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ejal%20&amp;%20Suhani\Downloads\Coffee%20Shop%20Sales%20Data..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ejal%20&amp;%20Suhani\Downloads\Coffee%20Shop%20Sales%20Data..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ejal%20&amp;%20Suhani\Downloads\Coffee%20Shop%20Sales%20Data..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ejal%20&amp;%20Suhani\Downloads\Coffee%20Shop%20Sales%20Data..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ejal%20&amp;%20Suhani\Downloads\Coffee%20Shop%20Sales%20Data..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ejal%20&amp;%20Suhani\Downloads\Coffee%20Shop%20Sales%20Data..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ejal%20&amp;%20Suhani\Downloads\Coffee%20Shop%20Sales%20Data..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[Coffee Shop Sales Data...xlsx]Pivot!PivotTable9</c:name>
    <c:fmtId val="2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CATEGORY</a:t>
            </a:r>
            <a:r>
              <a:rPr lang="en-US" b="1" baseline="0"/>
              <a:t> TRANSACTION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4"/>
        <c:spPr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Pivot!$AA$3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Pivot!$Z$4:$Z$11</c:f>
              <c:strCache>
                <c:ptCount val="7"/>
                <c:pt idx="0">
                  <c:v>Cold Drinks</c:v>
                </c:pt>
                <c:pt idx="1">
                  <c:v>Snacks</c:v>
                </c:pt>
                <c:pt idx="2">
                  <c:v>Specialty Drinks</c:v>
                </c:pt>
                <c:pt idx="3">
                  <c:v>Coffee Beverages</c:v>
                </c:pt>
                <c:pt idx="4">
                  <c:v>Tea Beverages</c:v>
                </c:pt>
                <c:pt idx="5">
                  <c:v>Sandwiches </c:v>
                </c:pt>
                <c:pt idx="6">
                  <c:v>Desserts</c:v>
                </c:pt>
              </c:strCache>
            </c:strRef>
          </c:cat>
          <c:val>
            <c:numRef>
              <c:f>Pivot!$AA$4:$AA$11</c:f>
              <c:numCache>
                <c:formatCode>_ * #,##0_ ;_ * \-#,##0_ ;_ * "-"??_ ;_ @_ </c:formatCode>
                <c:ptCount val="7"/>
                <c:pt idx="0">
                  <c:v>2199.6974999999879</c:v>
                </c:pt>
                <c:pt idx="1">
                  <c:v>2248.1829999999886</c:v>
                </c:pt>
                <c:pt idx="2">
                  <c:v>2273.7329999999897</c:v>
                </c:pt>
                <c:pt idx="3">
                  <c:v>2287.0819999999912</c:v>
                </c:pt>
                <c:pt idx="4">
                  <c:v>2335.9384999999907</c:v>
                </c:pt>
                <c:pt idx="5">
                  <c:v>2364.8134999999911</c:v>
                </c:pt>
                <c:pt idx="6">
                  <c:v>2521.539999999989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D5-4834-98A4-5F2A84823FE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101500079"/>
        <c:axId val="1101505839"/>
      </c:barChart>
      <c:catAx>
        <c:axId val="11015000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1505839"/>
        <c:crosses val="autoZero"/>
        <c:auto val="1"/>
        <c:lblAlgn val="ctr"/>
        <c:lblOffset val="100"/>
        <c:noMultiLvlLbl val="0"/>
      </c:catAx>
      <c:valAx>
        <c:axId val="1101505839"/>
        <c:scaling>
          <c:orientation val="minMax"/>
        </c:scaling>
        <c:delete val="1"/>
        <c:axPos val="b"/>
        <c:numFmt formatCode="_ * #,##0_ ;_ * \-#,##0_ ;_ * &quot;-&quot;??_ ;_ @_ " sourceLinked="1"/>
        <c:majorTickMark val="none"/>
        <c:minorTickMark val="none"/>
        <c:tickLblPos val="nextTo"/>
        <c:crossAx val="11015000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002060"/>
    </a:solidFill>
    <a:ln w="9525" cap="flat" cmpd="sng" algn="ctr">
      <a:noFill/>
      <a:round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[Coffee Shop Sales Data...xlsx]Pivot!PivotTable7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WeekDay</a:t>
            </a:r>
            <a:r>
              <a:rPr lang="en-US" baseline="0"/>
              <a:t> Transaction count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pattFill prst="ltUpDiag">
            <a:fgClr>
              <a:schemeClr val="accent1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14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solidFill>
              <a:srgbClr val="15608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pattFill prst="ltUpDiag">
            <a:fgClr>
              <a:schemeClr val="accent1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14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solidFill>
              <a:srgbClr val="15608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pattFill prst="ltUpDiag">
            <a:fgClr>
              <a:schemeClr val="accent1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14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solidFill>
              <a:srgbClr val="156082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5267475043752621E-2"/>
          <c:y val="0.30673123447385314"/>
          <c:w val="0.91358027491647231"/>
          <c:h val="0.52503507172078145"/>
        </c:manualLayout>
      </c:layout>
      <c:lineChart>
        <c:grouping val="standard"/>
        <c:varyColors val="0"/>
        <c:ser>
          <c:idx val="0"/>
          <c:order val="0"/>
          <c:tx>
            <c:strRef>
              <c:f>Pivot!$R$3</c:f>
              <c:strCache>
                <c:ptCount val="1"/>
                <c:pt idx="0">
                  <c:v>Total</c:v>
                </c:pt>
              </c:strCache>
            </c:strRef>
          </c:tx>
          <c:spPr>
            <a:ln w="25400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circle"/>
            <c:size val="14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solidFill>
                <a:srgbClr val="15608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Pivot!$Q$4:$Q$11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Pivot!$R$4:$R$11</c:f>
              <c:numCache>
                <c:formatCode>General</c:formatCode>
                <c:ptCount val="7"/>
                <c:pt idx="0">
                  <c:v>1412</c:v>
                </c:pt>
                <c:pt idx="1">
                  <c:v>1390</c:v>
                </c:pt>
                <c:pt idx="2">
                  <c:v>1426</c:v>
                </c:pt>
                <c:pt idx="3">
                  <c:v>1400</c:v>
                </c:pt>
                <c:pt idx="4">
                  <c:v>1404</c:v>
                </c:pt>
                <c:pt idx="5">
                  <c:v>1498</c:v>
                </c:pt>
                <c:pt idx="6">
                  <c:v>1441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24-406F-9F2D-492E7318A95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marker val="1"/>
        <c:smooth val="0"/>
        <c:axId val="386036927"/>
        <c:axId val="386045087"/>
      </c:lineChart>
      <c:catAx>
        <c:axId val="3860369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3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6045087"/>
        <c:crosses val="autoZero"/>
        <c:auto val="1"/>
        <c:lblAlgn val="ctr"/>
        <c:lblOffset val="100"/>
        <c:noMultiLvlLbl val="0"/>
      </c:catAx>
      <c:valAx>
        <c:axId val="38604508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860369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002060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[Coffee Shop Sales Data...xlsx]Pivot!PivotTable3</c:name>
    <c:fmtId val="2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200" b="1">
                <a:solidFill>
                  <a:schemeClr val="bg1"/>
                </a:solidFill>
              </a:rPr>
              <a:t>Year </a:t>
            </a:r>
            <a:r>
              <a:rPr lang="en-US" sz="1200" b="1" baseline="0">
                <a:solidFill>
                  <a:schemeClr val="bg1"/>
                </a:solidFill>
              </a:rPr>
              <a:t> Revenue</a:t>
            </a:r>
            <a:r>
              <a:rPr lang="en-US" sz="1200" b="1">
                <a:solidFill>
                  <a:schemeClr val="bg1"/>
                </a:solidFill>
              </a:rPr>
              <a:t> 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1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3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5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6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</c:pivotFmts>
    <c:plotArea>
      <c:layout>
        <c:manualLayout>
          <c:layoutTarget val="inner"/>
          <c:xMode val="edge"/>
          <c:yMode val="edge"/>
          <c:x val="0.27688099716280407"/>
          <c:y val="0.19542301893114425"/>
          <c:w val="0.52797404616268451"/>
          <c:h val="0.65435117794782915"/>
        </c:manualLayout>
      </c:layout>
      <c:doughnutChart>
        <c:varyColors val="1"/>
        <c:ser>
          <c:idx val="0"/>
          <c:order val="0"/>
          <c:tx>
            <c:strRef>
              <c:f>Pivot!$H$3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D19B-422E-B95D-5F7628A3558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D19B-422E-B95D-5F7628A3558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D19B-422E-B95D-5F7628A3558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Pivot!$G$4:$G$7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Pivot!$H$4:$H$7</c:f>
              <c:numCache>
                <c:formatCode>_-[$$-409]* #,##0_ ;_-[$$-409]* \-#,##0\ ;_-[$$-409]* "-"??_ ;_-@_ </c:formatCode>
                <c:ptCount val="3"/>
                <c:pt idx="0">
                  <c:v>15252.780000000032</c:v>
                </c:pt>
                <c:pt idx="1">
                  <c:v>15746.590000000055</c:v>
                </c:pt>
                <c:pt idx="2">
                  <c:v>15374.880000000032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19B-422E-B95D-5F7628A3558F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4461942257217847"/>
          <c:y val="0.88031809441789277"/>
          <c:w val="0.57943068275263876"/>
          <c:h val="0.1196817555602588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002060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[Coffee Shop Sales Data...xlsx]Pivot!PivotTable2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400" b="1">
                <a:solidFill>
                  <a:schemeClr val="bg1"/>
                </a:solidFill>
              </a:rPr>
              <a:t>REVENUE</a:t>
            </a:r>
            <a:r>
              <a:rPr lang="en-US" sz="1400" b="1" baseline="0">
                <a:solidFill>
                  <a:schemeClr val="bg1"/>
                </a:solidFill>
              </a:rPr>
              <a:t> BY CATEGORY</a:t>
            </a:r>
            <a:endParaRPr lang="en-US" sz="1400" b="1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00B05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00B050"/>
          </a:solidFill>
          <a:ln>
            <a:noFill/>
          </a:ln>
          <a:effectLst/>
        </c:spPr>
      </c:pivotFmt>
      <c:pivotFmt>
        <c:idx val="4"/>
        <c:spPr>
          <a:solidFill>
            <a:srgbClr val="00B05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00B05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46059794730472231"/>
          <c:y val="0.16267543859649125"/>
          <c:w val="0.53940205269527775"/>
          <c:h val="0.789078947368421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Pivot!$E$3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Pivot!$D$4:$D$11</c:f>
              <c:strCache>
                <c:ptCount val="7"/>
                <c:pt idx="0">
                  <c:v>Cold Drinks</c:v>
                </c:pt>
                <c:pt idx="1">
                  <c:v>Snacks</c:v>
                </c:pt>
                <c:pt idx="2">
                  <c:v>Specialty Drinks</c:v>
                </c:pt>
                <c:pt idx="3">
                  <c:v>Coffee Beverages</c:v>
                </c:pt>
                <c:pt idx="4">
                  <c:v>Tea Beverages</c:v>
                </c:pt>
                <c:pt idx="5">
                  <c:v>Sandwiches </c:v>
                </c:pt>
                <c:pt idx="6">
                  <c:v>Desserts</c:v>
                </c:pt>
              </c:strCache>
            </c:strRef>
          </c:cat>
          <c:val>
            <c:numRef>
              <c:f>Pivot!$E$4:$E$11</c:f>
              <c:numCache>
                <c:formatCode>_-[$$-409]* #,##0_ ;_-[$$-409]* \-#,##0\ ;_-[$$-409]* "-"??_ ;_-@_ </c:formatCode>
                <c:ptCount val="7"/>
                <c:pt idx="0">
                  <c:v>6284.8500000000022</c:v>
                </c:pt>
                <c:pt idx="1">
                  <c:v>6423.3800000000065</c:v>
                </c:pt>
                <c:pt idx="2">
                  <c:v>6496.3800000000037</c:v>
                </c:pt>
                <c:pt idx="3">
                  <c:v>6534.5200000000023</c:v>
                </c:pt>
                <c:pt idx="4">
                  <c:v>6674.1100000000051</c:v>
                </c:pt>
                <c:pt idx="5">
                  <c:v>6756.6100000000115</c:v>
                </c:pt>
                <c:pt idx="6">
                  <c:v>7204.4000000000024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9B-4918-828A-B24FDB22F3A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141661311"/>
        <c:axId val="141661791"/>
      </c:barChart>
      <c:catAx>
        <c:axId val="1416613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661791"/>
        <c:crosses val="autoZero"/>
        <c:auto val="1"/>
        <c:lblAlgn val="ctr"/>
        <c:lblOffset val="100"/>
        <c:noMultiLvlLbl val="0"/>
      </c:catAx>
      <c:valAx>
        <c:axId val="141661791"/>
        <c:scaling>
          <c:orientation val="minMax"/>
        </c:scaling>
        <c:delete val="1"/>
        <c:axPos val="b"/>
        <c:numFmt formatCode="_-[$$-409]* #,##0_ ;_-[$$-409]* \-#,##0\ ;_-[$$-409]* &quot;-&quot;??_ ;_-@_ " sourceLinked="1"/>
        <c:majorTickMark val="none"/>
        <c:minorTickMark val="none"/>
        <c:tickLblPos val="nextTo"/>
        <c:crossAx val="1416613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002060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[Coffee Shop Sales Data...xlsx]Pivot!PivotTable8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IN" sz="1600">
                <a:solidFill>
                  <a:schemeClr val="bg1"/>
                </a:solidFill>
              </a:rPr>
              <a:t>MONTHLY</a:t>
            </a:r>
            <a:r>
              <a:rPr lang="en-IN" sz="1600" baseline="0">
                <a:solidFill>
                  <a:schemeClr val="bg1"/>
                </a:solidFill>
              </a:rPr>
              <a:t> TRANSACTION</a:t>
            </a:r>
            <a:endParaRPr lang="en-IN" sz="160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FBF9AB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FBF9AB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rgbClr val="FBF9AB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Pivot!$U$3:$U$4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FBF9AB"/>
            </a:solidFill>
            <a:ln>
              <a:noFill/>
            </a:ln>
            <a:effectLst/>
          </c:spPr>
          <c:invertIfNegative val="0"/>
          <c:cat>
            <c:strRef>
              <c:f>Pivot!$T$5:$T$17</c:f>
              <c:strCache>
                <c:ptCount val="12"/>
                <c:pt idx="0">
                  <c:v>Feb</c:v>
                </c:pt>
                <c:pt idx="1">
                  <c:v>Apr</c:v>
                </c:pt>
                <c:pt idx="2">
                  <c:v>Jan</c:v>
                </c:pt>
                <c:pt idx="3">
                  <c:v>Nov</c:v>
                </c:pt>
                <c:pt idx="4">
                  <c:v>Oct</c:v>
                </c:pt>
                <c:pt idx="5">
                  <c:v>Sep</c:v>
                </c:pt>
                <c:pt idx="6">
                  <c:v>Dec</c:v>
                </c:pt>
                <c:pt idx="7">
                  <c:v>Mar</c:v>
                </c:pt>
                <c:pt idx="8">
                  <c:v>Jun</c:v>
                </c:pt>
                <c:pt idx="9">
                  <c:v>Aug</c:v>
                </c:pt>
                <c:pt idx="10">
                  <c:v>Jul</c:v>
                </c:pt>
                <c:pt idx="11">
                  <c:v>May</c:v>
                </c:pt>
              </c:strCache>
            </c:strRef>
          </c:cat>
          <c:val>
            <c:numRef>
              <c:f>Pivot!$U$5:$U$17</c:f>
              <c:numCache>
                <c:formatCode>General</c:formatCode>
                <c:ptCount val="12"/>
                <c:pt idx="0">
                  <c:v>249</c:v>
                </c:pt>
                <c:pt idx="1">
                  <c:v>244</c:v>
                </c:pt>
                <c:pt idx="2">
                  <c:v>271</c:v>
                </c:pt>
                <c:pt idx="3">
                  <c:v>271</c:v>
                </c:pt>
                <c:pt idx="4">
                  <c:v>263</c:v>
                </c:pt>
                <c:pt idx="5">
                  <c:v>274</c:v>
                </c:pt>
                <c:pt idx="6">
                  <c:v>284</c:v>
                </c:pt>
                <c:pt idx="7">
                  <c:v>314</c:v>
                </c:pt>
                <c:pt idx="8">
                  <c:v>263</c:v>
                </c:pt>
                <c:pt idx="9">
                  <c:v>280</c:v>
                </c:pt>
                <c:pt idx="10">
                  <c:v>280</c:v>
                </c:pt>
                <c:pt idx="11">
                  <c:v>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59-443D-903D-35CDC559EE9F}"/>
            </c:ext>
          </c:extLst>
        </c:ser>
        <c:ser>
          <c:idx val="1"/>
          <c:order val="1"/>
          <c:tx>
            <c:strRef>
              <c:f>Pivot!$V$3:$V$4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Pivot!$T$5:$T$17</c:f>
              <c:strCache>
                <c:ptCount val="12"/>
                <c:pt idx="0">
                  <c:v>Feb</c:v>
                </c:pt>
                <c:pt idx="1">
                  <c:v>Apr</c:v>
                </c:pt>
                <c:pt idx="2">
                  <c:v>Jan</c:v>
                </c:pt>
                <c:pt idx="3">
                  <c:v>Nov</c:v>
                </c:pt>
                <c:pt idx="4">
                  <c:v>Oct</c:v>
                </c:pt>
                <c:pt idx="5">
                  <c:v>Sep</c:v>
                </c:pt>
                <c:pt idx="6">
                  <c:v>Dec</c:v>
                </c:pt>
                <c:pt idx="7">
                  <c:v>Mar</c:v>
                </c:pt>
                <c:pt idx="8">
                  <c:v>Jun</c:v>
                </c:pt>
                <c:pt idx="9">
                  <c:v>Aug</c:v>
                </c:pt>
                <c:pt idx="10">
                  <c:v>Jul</c:v>
                </c:pt>
                <c:pt idx="11">
                  <c:v>May</c:v>
                </c:pt>
              </c:strCache>
            </c:strRef>
          </c:cat>
          <c:val>
            <c:numRef>
              <c:f>Pivot!$V$5:$V$17</c:f>
              <c:numCache>
                <c:formatCode>General</c:formatCode>
                <c:ptCount val="12"/>
                <c:pt idx="0">
                  <c:v>258</c:v>
                </c:pt>
                <c:pt idx="1">
                  <c:v>260</c:v>
                </c:pt>
                <c:pt idx="2">
                  <c:v>286</c:v>
                </c:pt>
                <c:pt idx="3">
                  <c:v>269</c:v>
                </c:pt>
                <c:pt idx="4">
                  <c:v>285</c:v>
                </c:pt>
                <c:pt idx="5">
                  <c:v>285</c:v>
                </c:pt>
                <c:pt idx="6">
                  <c:v>269</c:v>
                </c:pt>
                <c:pt idx="7">
                  <c:v>259</c:v>
                </c:pt>
                <c:pt idx="8">
                  <c:v>300</c:v>
                </c:pt>
                <c:pt idx="9">
                  <c:v>290</c:v>
                </c:pt>
                <c:pt idx="10">
                  <c:v>278</c:v>
                </c:pt>
                <c:pt idx="11">
                  <c:v>311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59-443D-903D-35CDC559EE9F}"/>
            </c:ext>
          </c:extLst>
        </c:ser>
        <c:ser>
          <c:idx val="2"/>
          <c:order val="2"/>
          <c:tx>
            <c:strRef>
              <c:f>Pivot!$W$3:$W$4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Pivot!$T$5:$T$17</c:f>
              <c:strCache>
                <c:ptCount val="12"/>
                <c:pt idx="0">
                  <c:v>Feb</c:v>
                </c:pt>
                <c:pt idx="1">
                  <c:v>Apr</c:v>
                </c:pt>
                <c:pt idx="2">
                  <c:v>Jan</c:v>
                </c:pt>
                <c:pt idx="3">
                  <c:v>Nov</c:v>
                </c:pt>
                <c:pt idx="4">
                  <c:v>Oct</c:v>
                </c:pt>
                <c:pt idx="5">
                  <c:v>Sep</c:v>
                </c:pt>
                <c:pt idx="6">
                  <c:v>Dec</c:v>
                </c:pt>
                <c:pt idx="7">
                  <c:v>Mar</c:v>
                </c:pt>
                <c:pt idx="8">
                  <c:v>Jun</c:v>
                </c:pt>
                <c:pt idx="9">
                  <c:v>Aug</c:v>
                </c:pt>
                <c:pt idx="10">
                  <c:v>Jul</c:v>
                </c:pt>
                <c:pt idx="11">
                  <c:v>May</c:v>
                </c:pt>
              </c:strCache>
            </c:strRef>
          </c:cat>
          <c:val>
            <c:numRef>
              <c:f>Pivot!$W$5:$W$17</c:f>
              <c:numCache>
                <c:formatCode>General</c:formatCode>
                <c:ptCount val="12"/>
                <c:pt idx="0">
                  <c:v>237</c:v>
                </c:pt>
                <c:pt idx="1">
                  <c:v>285</c:v>
                </c:pt>
                <c:pt idx="2">
                  <c:v>265</c:v>
                </c:pt>
                <c:pt idx="3">
                  <c:v>282</c:v>
                </c:pt>
                <c:pt idx="4">
                  <c:v>282</c:v>
                </c:pt>
                <c:pt idx="5">
                  <c:v>273</c:v>
                </c:pt>
                <c:pt idx="6">
                  <c:v>281</c:v>
                </c:pt>
                <c:pt idx="7">
                  <c:v>265</c:v>
                </c:pt>
                <c:pt idx="8">
                  <c:v>280</c:v>
                </c:pt>
                <c:pt idx="9">
                  <c:v>273</c:v>
                </c:pt>
                <c:pt idx="10">
                  <c:v>307</c:v>
                </c:pt>
                <c:pt idx="11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D59-443D-903D-35CDC559EE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1656991"/>
        <c:axId val="141641151"/>
      </c:barChart>
      <c:catAx>
        <c:axId val="141656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641151"/>
        <c:crosses val="autoZero"/>
        <c:auto val="1"/>
        <c:lblAlgn val="ctr"/>
        <c:lblOffset val="100"/>
        <c:noMultiLvlLbl val="0"/>
      </c:catAx>
      <c:valAx>
        <c:axId val="1416411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656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002060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[Coffee Shop Sales Data...xlsx]Pivot!PivotTable6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bg1"/>
                </a:solidFill>
              </a:rPr>
              <a:t>REVENUE</a:t>
            </a:r>
            <a:r>
              <a:rPr lang="en-US" baseline="0">
                <a:solidFill>
                  <a:schemeClr val="bg1"/>
                </a:solidFill>
              </a:rPr>
              <a:t> % BY CITY</a:t>
            </a:r>
            <a:endParaRPr lang="en-US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4.0076565964992615E-2"/>
          <c:y val="0.19228899371123978"/>
          <c:w val="0.60786054211195806"/>
          <c:h val="0.78189511414387303"/>
        </c:manualLayout>
      </c:layout>
      <c:pieChart>
        <c:varyColors val="1"/>
        <c:ser>
          <c:idx val="0"/>
          <c:order val="0"/>
          <c:tx>
            <c:strRef>
              <c:f>Pivot!$O$3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460-4022-97D8-CEFDF32ECA4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460-4022-97D8-CEFDF32ECA4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460-4022-97D8-CEFDF32ECA4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460-4022-97D8-CEFDF32ECA4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460-4022-97D8-CEFDF32ECA4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Pivot!$N$4:$N$9</c:f>
              <c:strCache>
                <c:ptCount val="5"/>
                <c:pt idx="0">
                  <c:v>Austin</c:v>
                </c:pt>
                <c:pt idx="1">
                  <c:v>Chicago</c:v>
                </c:pt>
                <c:pt idx="2">
                  <c:v>Los Angeles</c:v>
                </c:pt>
                <c:pt idx="3">
                  <c:v>New York</c:v>
                </c:pt>
                <c:pt idx="4">
                  <c:v>Seattle</c:v>
                </c:pt>
              </c:strCache>
            </c:strRef>
          </c:cat>
          <c:val>
            <c:numRef>
              <c:f>Pivot!$O$4:$O$9</c:f>
              <c:numCache>
                <c:formatCode>_-[$$-409]* #,##0_ ;_-[$$-409]* \-#,##0\ ;_-[$$-409]* "-"??_ ;_-@_ </c:formatCode>
                <c:ptCount val="5"/>
                <c:pt idx="0">
                  <c:v>8367.7999999999975</c:v>
                </c:pt>
                <c:pt idx="1">
                  <c:v>11206.320000000034</c:v>
                </c:pt>
                <c:pt idx="2">
                  <c:v>10787.470000000018</c:v>
                </c:pt>
                <c:pt idx="3">
                  <c:v>10425.45000000001</c:v>
                </c:pt>
                <c:pt idx="4">
                  <c:v>5587.2100000000073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460-4022-97D8-CEFDF32ECA44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6070421903017917"/>
          <c:y val="0.36952788759541355"/>
          <c:w val="0.31279133878001103"/>
          <c:h val="0.5018209350022042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002060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[Coffee Shop Sales Data...xlsx]Pivot!PivotTable5</c:name>
    <c:fmtId val="2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kern="1200" spc="0" baseline="0">
                <a:solidFill>
                  <a:schemeClr val="bg1"/>
                </a:solidFill>
              </a:rPr>
              <a:t>MONTHLY PROFIT &amp;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00B0F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00B0F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00B0F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1"/>
          <c:order val="0"/>
          <c:tx>
            <c:strRef>
              <c:f>Pivot!$K$3</c:f>
              <c:strCache>
                <c:ptCount val="1"/>
                <c:pt idx="0">
                  <c:v> REVENUE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Pivot!$J$4:$J$16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Pivot!$K$4:$K$16</c:f>
              <c:numCache>
                <c:formatCode>0</c:formatCode>
                <c:ptCount val="12"/>
                <c:pt idx="0">
                  <c:v>4543.6199999999981</c:v>
                </c:pt>
                <c:pt idx="1">
                  <c:v>3476.6399999999981</c:v>
                </c:pt>
                <c:pt idx="2">
                  <c:v>3960.8699999999985</c:v>
                </c:pt>
                <c:pt idx="3">
                  <c:v>3605.5399999999972</c:v>
                </c:pt>
                <c:pt idx="4">
                  <c:v>4113.9599999999973</c:v>
                </c:pt>
                <c:pt idx="5">
                  <c:v>3868.2099999999978</c:v>
                </c:pt>
                <c:pt idx="6">
                  <c:v>4026.3199999999965</c:v>
                </c:pt>
                <c:pt idx="7">
                  <c:v>3772.099999999999</c:v>
                </c:pt>
                <c:pt idx="8">
                  <c:v>3592.5399999999986</c:v>
                </c:pt>
                <c:pt idx="9">
                  <c:v>3776.399999999996</c:v>
                </c:pt>
                <c:pt idx="10">
                  <c:v>3802.5999999999981</c:v>
                </c:pt>
                <c:pt idx="11">
                  <c:v>3835.4499999999966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07-49BB-BE87-1AE0D504568D}"/>
            </c:ext>
          </c:extLst>
        </c:ser>
        <c:ser>
          <c:idx val="0"/>
          <c:order val="1"/>
          <c:tx>
            <c:strRef>
              <c:f>Pivot!$L$3</c:f>
              <c:strCache>
                <c:ptCount val="1"/>
                <c:pt idx="0">
                  <c:v> PROFIT 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Pivot!$J$4:$J$16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Pivot!$L$4:$L$16</c:f>
              <c:numCache>
                <c:formatCode>0</c:formatCode>
                <c:ptCount val="12"/>
                <c:pt idx="0">
                  <c:v>1590.2669999999976</c:v>
                </c:pt>
                <c:pt idx="1">
                  <c:v>1216.823999999998</c:v>
                </c:pt>
                <c:pt idx="2">
                  <c:v>1386.3044999999963</c:v>
                </c:pt>
                <c:pt idx="3">
                  <c:v>1261.9389999999964</c:v>
                </c:pt>
                <c:pt idx="4">
                  <c:v>1439.8859999999956</c:v>
                </c:pt>
                <c:pt idx="5">
                  <c:v>1353.8734999999974</c:v>
                </c:pt>
                <c:pt idx="6">
                  <c:v>1409.211999999997</c:v>
                </c:pt>
                <c:pt idx="7">
                  <c:v>1320.2349999999965</c:v>
                </c:pt>
                <c:pt idx="8">
                  <c:v>1257.3889999999965</c:v>
                </c:pt>
                <c:pt idx="9">
                  <c:v>1321.7399999999948</c:v>
                </c:pt>
                <c:pt idx="10">
                  <c:v>1330.9099999999962</c:v>
                </c:pt>
                <c:pt idx="11">
                  <c:v>1342.4074999999964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07-49BB-BE87-1AE0D50456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1659033967"/>
        <c:axId val="1659032527"/>
      </c:barChart>
      <c:catAx>
        <c:axId val="16590339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9032527"/>
        <c:crosses val="autoZero"/>
        <c:auto val="1"/>
        <c:lblAlgn val="ctr"/>
        <c:lblOffset val="100"/>
        <c:noMultiLvlLbl val="0"/>
      </c:catAx>
      <c:valAx>
        <c:axId val="1659032527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16590339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002060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38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defRPr sz="900" kern="1200" spc="3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lt1">
            <a:lumMod val="85000"/>
          </a:schemeClr>
        </a:solidFill>
        <a:round/>
      </a:ln>
    </cs:spPr>
    <cs:defRPr sz="1000" kern="1200"/>
  </cs:chartArea>
  <cs:dataLabel>
    <cs:lnRef idx="0"/>
    <cs:fillRef idx="0">
      <cs:styleClr val="0"/>
    </cs:fillRef>
    <cs:effectRef idx="0"/>
    <cs:fontRef idx="minor">
      <a:schemeClr val="lt1"/>
    </cs:fontRef>
    <cs:spPr>
      <a:solidFill>
        <a:schemeClr val="phClr"/>
      </a:solidFill>
    </cs:spPr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25400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760609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92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0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68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491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391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420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5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25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19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61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639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90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731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839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56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79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01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9866" y="2487612"/>
            <a:ext cx="6866467" cy="1237721"/>
          </a:xfrm>
        </p:spPr>
        <p:txBody>
          <a:bodyPr>
            <a:normAutofit fontScale="90000"/>
          </a:bodyPr>
          <a:lstStyle/>
          <a:p>
            <a:r>
              <a:rPr dirty="0"/>
              <a:t>Coffee Shop Sales Dashboard</a:t>
            </a:r>
            <a:r>
              <a:rPr lang="en-US" dirty="0"/>
              <a:t> </a:t>
            </a:r>
            <a:r>
              <a:rPr dirty="0"/>
              <a:t>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884" y="207368"/>
            <a:ext cx="7248249" cy="1265832"/>
          </a:xfrm>
        </p:spPr>
        <p:txBody>
          <a:bodyPr>
            <a:normAutofit/>
          </a:bodyPr>
          <a:lstStyle/>
          <a:p>
            <a:r>
              <a:rPr sz="3200" dirty="0"/>
              <a:t>Dashboard Overview</a:t>
            </a:r>
          </a:p>
        </p:txBody>
      </p:sp>
      <p:pic>
        <p:nvPicPr>
          <p:cNvPr id="3" name="Picture 2" descr="Screenshot 2026-03-04 1619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42" y="1265832"/>
            <a:ext cx="7557353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82394" y="5507430"/>
            <a:ext cx="83558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This dashboard provides insights into coffee shop sales performance including transactions, revenue, profit,</a:t>
            </a:r>
            <a:r>
              <a:rPr lang="en-IN" dirty="0"/>
              <a:t> and category performance across different years, months, and cities.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</a:t>
            </a:r>
            <a:r>
              <a:rPr sz="3200" dirty="0"/>
              <a:t>Performance</a:t>
            </a:r>
            <a:r>
              <a:rPr dirty="0"/>
              <a:t>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37267"/>
            <a:ext cx="8229600" cy="2929467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sz="2400" dirty="0"/>
              <a:t>Total Transactions: 9,971 – Total number of sales transactions recorded.</a:t>
            </a:r>
          </a:p>
          <a:p>
            <a:pPr>
              <a:lnSpc>
                <a:spcPct val="150000"/>
              </a:lnSpc>
            </a:pPr>
            <a:r>
              <a:rPr sz="2400" dirty="0"/>
              <a:t>Total Quantity Sold: 14,117 – Total items sold across all product categories.</a:t>
            </a:r>
          </a:p>
          <a:p>
            <a:pPr>
              <a:lnSpc>
                <a:spcPct val="150000"/>
              </a:lnSpc>
            </a:pPr>
            <a:r>
              <a:rPr sz="2400" dirty="0"/>
              <a:t>Total Revenue: $46,374 – Total income generated from sales.</a:t>
            </a:r>
          </a:p>
          <a:p>
            <a:pPr>
              <a:lnSpc>
                <a:spcPct val="150000"/>
              </a:lnSpc>
            </a:pPr>
            <a:r>
              <a:rPr sz="2400" dirty="0"/>
              <a:t>Total Profit: $16,231 – Net profit earned after costs.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114" y="-125956"/>
            <a:ext cx="8229600" cy="1143000"/>
          </a:xfrm>
        </p:spPr>
        <p:txBody>
          <a:bodyPr>
            <a:normAutofit/>
          </a:bodyPr>
          <a:lstStyle/>
          <a:p>
            <a:r>
              <a:rPr sz="3200" dirty="0"/>
              <a:t>Category Transaction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5975" y="3060414"/>
            <a:ext cx="6797040" cy="2973659"/>
          </a:xfrm>
        </p:spPr>
        <p:txBody>
          <a:bodyPr>
            <a:normAutofit/>
          </a:bodyPr>
          <a:lstStyle/>
          <a:p>
            <a:r>
              <a:rPr sz="2000" dirty="0"/>
              <a:t>This bar chart shows the number of transactions by product category such as Desserts, Sandwiches, Tea Beverages, Coffee Beverages, Specialty Drinks, Snacks, and Cold Drinks.</a:t>
            </a:r>
          </a:p>
          <a:p>
            <a:r>
              <a:rPr sz="2000" dirty="0"/>
              <a:t>It helps identify which product categories are most popular among customers.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AAE1AAF-8EFF-4ECA-9A8C-CBDD2EB541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6650639"/>
              </p:ext>
            </p:extLst>
          </p:nvPr>
        </p:nvGraphicFramePr>
        <p:xfrm>
          <a:off x="1278965" y="1281363"/>
          <a:ext cx="4198969" cy="19888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796" y="-93617"/>
            <a:ext cx="7704667" cy="1981200"/>
          </a:xfrm>
        </p:spPr>
        <p:txBody>
          <a:bodyPr>
            <a:normAutofit/>
          </a:bodyPr>
          <a:lstStyle/>
          <a:p>
            <a:r>
              <a:rPr sz="3200" dirty="0"/>
              <a:t>Weekday Transaction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6766" y="4116977"/>
            <a:ext cx="7432766" cy="2353491"/>
          </a:xfrm>
        </p:spPr>
        <p:txBody>
          <a:bodyPr>
            <a:normAutofit/>
          </a:bodyPr>
          <a:lstStyle/>
          <a:p>
            <a:r>
              <a:rPr sz="2000" dirty="0"/>
              <a:t>This line chart shows the number of transactions for each day of the week.</a:t>
            </a:r>
          </a:p>
          <a:p>
            <a:r>
              <a:rPr sz="2000" dirty="0"/>
              <a:t>It helps analyze customer traffic patterns and identify the busiest days. For example, Friday shows the highest number of transactions.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66F710A-B861-48C2-AC02-968321C42E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2965279"/>
              </p:ext>
            </p:extLst>
          </p:nvPr>
        </p:nvGraphicFramePr>
        <p:xfrm>
          <a:off x="1105079" y="1380066"/>
          <a:ext cx="4286251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6918855" cy="1075266"/>
          </a:xfrm>
        </p:spPr>
        <p:txBody>
          <a:bodyPr>
            <a:normAutofit/>
          </a:bodyPr>
          <a:lstStyle/>
          <a:p>
            <a:r>
              <a:rPr sz="3200" dirty="0"/>
              <a:t>Year Revenue Percentage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2400" y="4182535"/>
            <a:ext cx="8229600" cy="2133600"/>
          </a:xfrm>
        </p:spPr>
        <p:txBody>
          <a:bodyPr>
            <a:normAutofit/>
          </a:bodyPr>
          <a:lstStyle/>
          <a:p>
            <a:r>
              <a:rPr sz="2000" dirty="0"/>
              <a:t>This donut chart compares revenue contribution across different years (2021, 2022, and 2023).</a:t>
            </a:r>
          </a:p>
          <a:p>
            <a:r>
              <a:rPr sz="2000" dirty="0"/>
              <a:t>It shows that revenue distribution is relatively balanced between the years.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3376867-DB21-45E2-87F8-D0180158EB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7360350"/>
              </p:ext>
            </p:extLst>
          </p:nvPr>
        </p:nvGraphicFramePr>
        <p:xfrm>
          <a:off x="1243012" y="1409700"/>
          <a:ext cx="3845455" cy="2146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4" y="457201"/>
            <a:ext cx="7205134" cy="1075266"/>
          </a:xfrm>
        </p:spPr>
        <p:txBody>
          <a:bodyPr>
            <a:normAutofit/>
          </a:bodyPr>
          <a:lstStyle/>
          <a:p>
            <a:r>
              <a:rPr sz="3200" dirty="0"/>
              <a:t>Revenue by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4533" y="4076173"/>
            <a:ext cx="8009467" cy="2138362"/>
          </a:xfrm>
        </p:spPr>
        <p:txBody>
          <a:bodyPr>
            <a:normAutofit/>
          </a:bodyPr>
          <a:lstStyle/>
          <a:p>
            <a:r>
              <a:rPr sz="2000" dirty="0"/>
              <a:t>This horizontal bar chart shows the revenue generated by each product category.</a:t>
            </a:r>
          </a:p>
          <a:p>
            <a:r>
              <a:rPr sz="2000" dirty="0"/>
              <a:t>It helps the business understand which products generate the most income. Desserts and sandwiches are among the highest revenue contributors.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9AA8D03-31A9-4AA8-819B-115BDE01E4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2621788"/>
              </p:ext>
            </p:extLst>
          </p:nvPr>
        </p:nvGraphicFramePr>
        <p:xfrm>
          <a:off x="1356253" y="1329266"/>
          <a:ext cx="3596748" cy="2552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4" y="457201"/>
            <a:ext cx="7289800" cy="1650999"/>
          </a:xfrm>
        </p:spPr>
        <p:txBody>
          <a:bodyPr>
            <a:normAutofit/>
          </a:bodyPr>
          <a:lstStyle/>
          <a:p>
            <a:r>
              <a:rPr sz="3200" dirty="0"/>
              <a:t>Monthly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0132" y="3937000"/>
            <a:ext cx="8229600" cy="2019829"/>
          </a:xfrm>
        </p:spPr>
        <p:txBody>
          <a:bodyPr>
            <a:normAutofit/>
          </a:bodyPr>
          <a:lstStyle/>
          <a:p>
            <a:r>
              <a:rPr sz="2000" dirty="0"/>
              <a:t>This chart shows monthly transaction counts across multiple years.</a:t>
            </a:r>
          </a:p>
          <a:p>
            <a:r>
              <a:rPr sz="2000" dirty="0"/>
              <a:t>It helps track seasonal trends and understand how customer activity changes throughout the year.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114A4CB-AF1A-45FF-A363-2DFB6F12B6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8777245"/>
              </p:ext>
            </p:extLst>
          </p:nvPr>
        </p:nvGraphicFramePr>
        <p:xfrm>
          <a:off x="982134" y="1637771"/>
          <a:ext cx="4429125" cy="2209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00" y="308505"/>
            <a:ext cx="7442200" cy="1600199"/>
          </a:xfrm>
        </p:spPr>
        <p:txBody>
          <a:bodyPr>
            <a:normAutofit/>
          </a:bodyPr>
          <a:lstStyle/>
          <a:p>
            <a:r>
              <a:rPr sz="3200" dirty="0"/>
              <a:t>Revenue Percentage by 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4119562"/>
            <a:ext cx="8229600" cy="2002895"/>
          </a:xfrm>
        </p:spPr>
        <p:txBody>
          <a:bodyPr>
            <a:normAutofit/>
          </a:bodyPr>
          <a:lstStyle/>
          <a:p>
            <a:pPr algn="just"/>
            <a:r>
              <a:rPr sz="2000" dirty="0"/>
              <a:t>This pie chart represents the share of revenue generated from different cities such as Austin, Chicago, Los Angeles, New York, and Seattle.</a:t>
            </a:r>
          </a:p>
          <a:p>
            <a:pPr algn="just"/>
            <a:r>
              <a:rPr sz="2000" dirty="0"/>
              <a:t>It helps identify which city contributes the most to overall sales.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0A3095C-4F82-4E15-A01C-0E853FF1A3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7208535"/>
              </p:ext>
            </p:extLst>
          </p:nvPr>
        </p:nvGraphicFramePr>
        <p:xfrm>
          <a:off x="1083733" y="1689629"/>
          <a:ext cx="3750733" cy="2429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Monthly Profit and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6667" y="4174067"/>
            <a:ext cx="8229600" cy="1947333"/>
          </a:xfrm>
        </p:spPr>
        <p:txBody>
          <a:bodyPr>
            <a:normAutofit/>
          </a:bodyPr>
          <a:lstStyle/>
          <a:p>
            <a:r>
              <a:rPr sz="2000" dirty="0"/>
              <a:t>This chart compares monthly revenue and profit.</a:t>
            </a:r>
          </a:p>
          <a:p>
            <a:r>
              <a:rPr sz="2000" dirty="0"/>
              <a:t>It helps analyze financial performance over time and shows whether profit is increasing along with revenue.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1A41952-9C15-4862-B7A9-510750A904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6366711"/>
              </p:ext>
            </p:extLst>
          </p:nvPr>
        </p:nvGraphicFramePr>
        <p:xfrm>
          <a:off x="1083734" y="2061105"/>
          <a:ext cx="4428066" cy="2248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9933" y="1320800"/>
            <a:ext cx="7704667" cy="333281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The dashboard provides a complete view of coffee shop sales performance. It helps track product popularity, identify high-revenue categories, analyze customer behavior by weekday and month, and compare revenue across cities and years.</a:t>
            </a:r>
          </a:p>
          <a:p>
            <a:pPr marL="0" indent="0"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E40991-1244-8C0C-8197-43A1A47A5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66" y="1684867"/>
            <a:ext cx="7704667" cy="1981200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54516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45</TotalTime>
  <Words>410</Words>
  <Application>Microsoft Office PowerPoint</Application>
  <PresentationFormat>On-screen Show (4:3)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Corbel</vt:lpstr>
      <vt:lpstr>Parallax</vt:lpstr>
      <vt:lpstr>Coffee Shop Sales Dashboard Analysis</vt:lpstr>
      <vt:lpstr>Dashboard Overview</vt:lpstr>
      <vt:lpstr>Key Performance Indicators (KPIs)</vt:lpstr>
      <vt:lpstr>Category Transaction Chart</vt:lpstr>
      <vt:lpstr>Weekday Transaction Count</vt:lpstr>
      <vt:lpstr>Year Revenue Percentage</vt:lpstr>
      <vt:lpstr>Revenue by Category</vt:lpstr>
      <vt:lpstr>Monthly Transactions</vt:lpstr>
      <vt:lpstr>Revenue Percentage by City</vt:lpstr>
      <vt:lpstr>Monthly Profit and Revenue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Suhani Gholap</cp:lastModifiedBy>
  <cp:revision>27</cp:revision>
  <dcterms:created xsi:type="dcterms:W3CDTF">2013-01-27T09:14:16Z</dcterms:created>
  <dcterms:modified xsi:type="dcterms:W3CDTF">2026-03-05T11:05:01Z</dcterms:modified>
  <cp:category/>
</cp:coreProperties>
</file>